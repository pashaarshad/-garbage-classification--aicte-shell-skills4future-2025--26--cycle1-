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media/image4.png" ContentType="image/png"/>
  <Override PartName="/ppt/media/image3.jpeg" ContentType="image/jpe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10;p4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10072800" y="78120"/>
            <a:ext cx="180000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Rectangle 14"/>
          <p:cNvSpPr/>
          <p:nvPr/>
        </p:nvSpPr>
        <p:spPr>
          <a:xfrm>
            <a:off x="0" y="0"/>
            <a:ext cx="9829440" cy="71712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2" name="Rectangle 18"/>
          <p:cNvSpPr/>
          <p:nvPr/>
        </p:nvSpPr>
        <p:spPr>
          <a:xfrm>
            <a:off x="9888840" y="-360"/>
            <a:ext cx="111960" cy="73188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pic>
        <p:nvPicPr>
          <p:cNvPr id="3" name="Picture 30" descr="A blue and white background&#10;&#10;Description automatically generated with medium confidence"/>
          <p:cNvPicPr/>
          <p:nvPr/>
        </p:nvPicPr>
        <p:blipFill>
          <a:blip r:embed="rId3">
            <a:alphaModFix amt="16000"/>
          </a:blip>
          <a:srcRect l="0" t="24723" r="1620" b="63695"/>
          <a:stretch/>
        </p:blipFill>
        <p:spPr>
          <a:xfrm>
            <a:off x="0" y="0"/>
            <a:ext cx="9838800" cy="72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"/>
          <p:cNvSpPr/>
          <p:nvPr/>
        </p:nvSpPr>
        <p:spPr>
          <a:xfrm>
            <a:off x="11925360" y="-360"/>
            <a:ext cx="266400" cy="731880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10;p4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10072800" y="78120"/>
            <a:ext cx="180000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Rectangle 14"/>
          <p:cNvSpPr/>
          <p:nvPr/>
        </p:nvSpPr>
        <p:spPr>
          <a:xfrm>
            <a:off x="0" y="0"/>
            <a:ext cx="9829440" cy="71712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9" name="Rectangle 18"/>
          <p:cNvSpPr/>
          <p:nvPr/>
        </p:nvSpPr>
        <p:spPr>
          <a:xfrm>
            <a:off x="9888840" y="-360"/>
            <a:ext cx="111960" cy="73188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pic>
        <p:nvPicPr>
          <p:cNvPr id="10" name="Picture 30" descr="A blue and white background&#10;&#10;Description automatically generated with medium confidence"/>
          <p:cNvPicPr/>
          <p:nvPr/>
        </p:nvPicPr>
        <p:blipFill>
          <a:blip r:embed="rId3">
            <a:alphaModFix amt="16000"/>
          </a:blip>
          <a:srcRect l="0" t="24723" r="1620" b="63695"/>
          <a:stretch/>
        </p:blipFill>
        <p:spPr>
          <a:xfrm>
            <a:off x="0" y="0"/>
            <a:ext cx="9838800" cy="72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Rectangle 1"/>
          <p:cNvSpPr/>
          <p:nvPr/>
        </p:nvSpPr>
        <p:spPr>
          <a:xfrm>
            <a:off x="11925360" y="-360"/>
            <a:ext cx="266400" cy="731880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10;p4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10072800" y="78120"/>
            <a:ext cx="180000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Rectangle 14"/>
          <p:cNvSpPr/>
          <p:nvPr/>
        </p:nvSpPr>
        <p:spPr>
          <a:xfrm>
            <a:off x="0" y="0"/>
            <a:ext cx="9829440" cy="71712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6" name="Rectangle 18"/>
          <p:cNvSpPr/>
          <p:nvPr/>
        </p:nvSpPr>
        <p:spPr>
          <a:xfrm>
            <a:off x="9888840" y="-360"/>
            <a:ext cx="111960" cy="73188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pic>
        <p:nvPicPr>
          <p:cNvPr id="17" name="Picture 30" descr="A blue and white background&#10;&#10;Description automatically generated with medium confidence"/>
          <p:cNvPicPr/>
          <p:nvPr/>
        </p:nvPicPr>
        <p:blipFill>
          <a:blip r:embed="rId3">
            <a:alphaModFix amt="16000"/>
          </a:blip>
          <a:srcRect l="0" t="24723" r="1620" b="63695"/>
          <a:stretch/>
        </p:blipFill>
        <p:spPr>
          <a:xfrm>
            <a:off x="0" y="0"/>
            <a:ext cx="9838800" cy="72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Rectangle 1"/>
          <p:cNvSpPr/>
          <p:nvPr/>
        </p:nvSpPr>
        <p:spPr>
          <a:xfrm>
            <a:off x="11925360" y="-360"/>
            <a:ext cx="266400" cy="731880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10;p4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10072800" y="78120"/>
            <a:ext cx="180000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Rectangle 14"/>
          <p:cNvSpPr/>
          <p:nvPr/>
        </p:nvSpPr>
        <p:spPr>
          <a:xfrm>
            <a:off x="0" y="0"/>
            <a:ext cx="9829440" cy="71712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21" name="Rectangle 18"/>
          <p:cNvSpPr/>
          <p:nvPr/>
        </p:nvSpPr>
        <p:spPr>
          <a:xfrm>
            <a:off x="9888840" y="-360"/>
            <a:ext cx="111960" cy="73188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pic>
        <p:nvPicPr>
          <p:cNvPr id="22" name="Picture 30" descr="A blue and white background&#10;&#10;Description automatically generated with medium confidence"/>
          <p:cNvPicPr/>
          <p:nvPr/>
        </p:nvPicPr>
        <p:blipFill>
          <a:blip r:embed="rId3">
            <a:alphaModFix amt="16000"/>
          </a:blip>
          <a:srcRect l="0" t="24723" r="1620" b="63695"/>
          <a:stretch/>
        </p:blipFill>
        <p:spPr>
          <a:xfrm>
            <a:off x="0" y="0"/>
            <a:ext cx="9838800" cy="72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Rectangle 1"/>
          <p:cNvSpPr/>
          <p:nvPr/>
        </p:nvSpPr>
        <p:spPr>
          <a:xfrm>
            <a:off x="11925360" y="-360"/>
            <a:ext cx="266400" cy="731880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110;p4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10072800" y="78120"/>
            <a:ext cx="180000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Rectangle 14"/>
          <p:cNvSpPr/>
          <p:nvPr/>
        </p:nvSpPr>
        <p:spPr>
          <a:xfrm>
            <a:off x="0" y="0"/>
            <a:ext cx="9829440" cy="71712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26" name="Rectangle 18"/>
          <p:cNvSpPr/>
          <p:nvPr/>
        </p:nvSpPr>
        <p:spPr>
          <a:xfrm>
            <a:off x="9888840" y="-360"/>
            <a:ext cx="111960" cy="73188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pic>
        <p:nvPicPr>
          <p:cNvPr id="27" name="Picture 30" descr="A blue and white background&#10;&#10;Description automatically generated with medium confidence"/>
          <p:cNvPicPr/>
          <p:nvPr/>
        </p:nvPicPr>
        <p:blipFill>
          <a:blip r:embed="rId3">
            <a:alphaModFix amt="16000"/>
          </a:blip>
          <a:srcRect l="0" t="24723" r="1620" b="63695"/>
          <a:stretch/>
        </p:blipFill>
        <p:spPr>
          <a:xfrm>
            <a:off x="0" y="0"/>
            <a:ext cx="9838800" cy="72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Rectangle 1"/>
          <p:cNvSpPr/>
          <p:nvPr/>
        </p:nvSpPr>
        <p:spPr>
          <a:xfrm>
            <a:off x="11925360" y="-360"/>
            <a:ext cx="266400" cy="731880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10;p4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10072800" y="78120"/>
            <a:ext cx="180000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Rectangle 14"/>
          <p:cNvSpPr/>
          <p:nvPr/>
        </p:nvSpPr>
        <p:spPr>
          <a:xfrm>
            <a:off x="0" y="0"/>
            <a:ext cx="9829440" cy="71712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33" name="Rectangle 18"/>
          <p:cNvSpPr/>
          <p:nvPr/>
        </p:nvSpPr>
        <p:spPr>
          <a:xfrm>
            <a:off x="9888840" y="-360"/>
            <a:ext cx="111960" cy="73188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pic>
        <p:nvPicPr>
          <p:cNvPr id="34" name="Picture 30" descr="A blue and white background&#10;&#10;Description automatically generated with medium confidence"/>
          <p:cNvPicPr/>
          <p:nvPr/>
        </p:nvPicPr>
        <p:blipFill>
          <a:blip r:embed="rId3">
            <a:alphaModFix amt="16000"/>
          </a:blip>
          <a:srcRect l="0" t="24723" r="1620" b="63695"/>
          <a:stretch/>
        </p:blipFill>
        <p:spPr>
          <a:xfrm>
            <a:off x="0" y="0"/>
            <a:ext cx="9838800" cy="72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Rectangle 1"/>
          <p:cNvSpPr/>
          <p:nvPr/>
        </p:nvSpPr>
        <p:spPr>
          <a:xfrm>
            <a:off x="11925360" y="-360"/>
            <a:ext cx="266400" cy="731880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www.freepik.com/" TargetMode="External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www.freepik.com/" TargetMode="Externa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github.com/pashaarshad/-Garbage-Classification--AICTE-Shell-Skills4Future-2025--26--Cycle1-/blob/main/Final%20Project/Main.ipynb" TargetMode="External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1" descr="A person sitting at a desk with a computer&#10;&#10;Description automatically generated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: Rounded Corners 3"/>
          <p:cNvSpPr/>
          <p:nvPr/>
        </p:nvSpPr>
        <p:spPr>
          <a:xfrm>
            <a:off x="5873760" y="584280"/>
            <a:ext cx="4673160" cy="977400"/>
          </a:xfrm>
          <a:prstGeom prst="roundRect">
            <a:avLst>
              <a:gd name="adj" fmla="val 16667"/>
            </a:avLst>
          </a:prstGeom>
          <a:solidFill>
            <a:srgbClr val="ebeef9"/>
          </a:soli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7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40" name="TextBox 4"/>
          <p:cNvSpPr/>
          <p:nvPr/>
        </p:nvSpPr>
        <p:spPr>
          <a:xfrm>
            <a:off x="3008520" y="3385080"/>
            <a:ext cx="84214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uFillTx/>
                <a:latin typeface="Calibri"/>
                <a:ea typeface="Arial"/>
              </a:rPr>
              <a:t>GARBAGE CLASSIFICATION SYSTEM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1" name="Group 5"/>
          <p:cNvGrpSpPr/>
          <p:nvPr/>
        </p:nvGrpSpPr>
        <p:grpSpPr>
          <a:xfrm>
            <a:off x="6890400" y="741960"/>
            <a:ext cx="2639880" cy="663840"/>
            <a:chOff x="6890400" y="741960"/>
            <a:chExt cx="2639880" cy="663840"/>
          </a:xfrm>
        </p:grpSpPr>
        <p:pic>
          <p:nvPicPr>
            <p:cNvPr id="42" name="Picture 6" descr="A close up of a logo&#10;&#10;Description automatically generated"/>
            <p:cNvPicPr/>
            <p:nvPr/>
          </p:nvPicPr>
          <p:blipFill>
            <a:blip r:embed="rId2"/>
            <a:stretch/>
          </p:blipFill>
          <p:spPr>
            <a:xfrm>
              <a:off x="8267400" y="869040"/>
              <a:ext cx="1262880" cy="410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3" name="Picture 7" descr="A yellow and red shell logo&#10;&#10;Description automatically generated"/>
            <p:cNvPicPr/>
            <p:nvPr/>
          </p:nvPicPr>
          <p:blipFill>
            <a:blip r:embed="rId3"/>
            <a:stretch/>
          </p:blipFill>
          <p:spPr>
            <a:xfrm>
              <a:off x="6890400" y="741960"/>
              <a:ext cx="789840" cy="663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1"/>
          <p:cNvSpPr/>
          <p:nvPr/>
        </p:nvSpPr>
        <p:spPr>
          <a:xfrm>
            <a:off x="191880" y="972360"/>
            <a:ext cx="2652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TextBox 2"/>
          <p:cNvSpPr/>
          <p:nvPr/>
        </p:nvSpPr>
        <p:spPr>
          <a:xfrm>
            <a:off x="199800" y="6135480"/>
            <a:ext cx="795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IN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Source :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TextBox 3"/>
          <p:cNvSpPr/>
          <p:nvPr/>
        </p:nvSpPr>
        <p:spPr>
          <a:xfrm>
            <a:off x="880560" y="6135480"/>
            <a:ext cx="1842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IN" sz="1200" strike="noStrike" u="sng">
                <a:solidFill>
                  <a:srgbClr val="0000ff"/>
                </a:solidFill>
                <a:uFillTx/>
                <a:latin typeface="Arial"/>
                <a:ea typeface="Arial"/>
                <a:hlinkClick r:id="rId1"/>
              </a:rPr>
              <a:t>www.freepik.com/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7" name="Straight Connector 4"/>
          <p:cNvCxnSpPr/>
          <p:nvPr/>
        </p:nvCxnSpPr>
        <p:spPr>
          <a:xfrm>
            <a:off x="0" y="6055200"/>
            <a:ext cx="12192120" cy="360"/>
          </a:xfrm>
          <a:prstGeom prst="straightConnector1">
            <a:avLst/>
          </a:prstGeom>
          <a:ln w="12700">
            <a:solidFill>
              <a:srgbClr val="ffffff">
                <a:lumMod val="85000"/>
              </a:srgbClr>
            </a:solidFill>
            <a:round/>
          </a:ln>
        </p:spPr>
      </p:cxnSp>
      <p:sp>
        <p:nvSpPr>
          <p:cNvPr id="48" name="TextBox 6"/>
          <p:cNvSpPr/>
          <p:nvPr/>
        </p:nvSpPr>
        <p:spPr>
          <a:xfrm>
            <a:off x="8839080" y="3168720"/>
            <a:ext cx="1503360" cy="11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56440" y="1290600"/>
            <a:ext cx="10034640" cy="391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Title: Intelligent Garbage Classification System Using Deep Learning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- Subtitle: Automated Waste Management Solution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- Student Name : </a:t>
            </a:r>
            <a:r>
              <a:rPr b="1" lang="en-US" sz="2800" strike="noStrike" u="none">
                <a:solidFill>
                  <a:srgbClr val="000000"/>
                </a:solidFill>
                <a:uFillTx/>
                <a:latin typeface="Arial"/>
              </a:rPr>
              <a:t>Arshad Pahsa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- College Name : Seshadripuram Degree College ,Mysore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- Organization: AICTE Shell Skills4Future 2025-26 (Cycle1)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8"/>
          <p:cNvSpPr/>
          <p:nvPr/>
        </p:nvSpPr>
        <p:spPr>
          <a:xfrm>
            <a:off x="191880" y="972360"/>
            <a:ext cx="2652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2000" strike="noStrike" u="none">
                <a:solidFill>
                  <a:srgbClr val="213163"/>
                </a:solidFill>
                <a:uFillTx/>
                <a:latin typeface="Arial"/>
                <a:ea typeface="Arial"/>
              </a:rPr>
              <a:t>Learning Objectives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TextBox 9"/>
          <p:cNvSpPr/>
          <p:nvPr/>
        </p:nvSpPr>
        <p:spPr>
          <a:xfrm>
            <a:off x="199800" y="6135480"/>
            <a:ext cx="795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IN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Source :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880560" y="6135480"/>
            <a:ext cx="1842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IN" sz="1200" strike="noStrike" u="sng">
                <a:solidFill>
                  <a:srgbClr val="0000ff"/>
                </a:solidFill>
                <a:uFillTx/>
                <a:latin typeface="Arial"/>
                <a:ea typeface="Arial"/>
                <a:hlinkClick r:id="rId1"/>
              </a:rPr>
              <a:t>www.freepik.com/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3" name="Straight Connector 2"/>
          <p:cNvCxnSpPr/>
          <p:nvPr/>
        </p:nvCxnSpPr>
        <p:spPr>
          <a:xfrm>
            <a:off x="0" y="6055200"/>
            <a:ext cx="12192120" cy="360"/>
          </a:xfrm>
          <a:prstGeom prst="straightConnector1">
            <a:avLst/>
          </a:prstGeom>
          <a:ln w="12700">
            <a:solidFill>
              <a:srgbClr val="ffffff">
                <a:lumMod val="85000"/>
              </a:srgbClr>
            </a:solidFill>
            <a:round/>
          </a:ln>
        </p:spPr>
      </p:cxnSp>
      <p:pic>
        <p:nvPicPr>
          <p:cNvPr id="54" name="Picture 2" descr="A ladder leading to a large yellow circle&#10;&#10;Description automatically generated"/>
          <p:cNvPicPr/>
          <p:nvPr/>
        </p:nvPicPr>
        <p:blipFill>
          <a:blip r:embed="rId2">
            <a:alphaModFix amt="85000"/>
          </a:blip>
          <a:srcRect l="13761" t="6135" r="13648" b="0"/>
          <a:stretch/>
        </p:blipFill>
        <p:spPr>
          <a:xfrm>
            <a:off x="7345800" y="1442880"/>
            <a:ext cx="4500360" cy="463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Box 11"/>
          <p:cNvSpPr/>
          <p:nvPr/>
        </p:nvSpPr>
        <p:spPr>
          <a:xfrm>
            <a:off x="8839080" y="3168720"/>
            <a:ext cx="1503360" cy="62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IN" sz="35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GOAL</a:t>
            </a:r>
            <a:endParaRPr b="0" lang="en-US" sz="3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00440" y="1453680"/>
            <a:ext cx="7457040" cy="429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By the end of this presentation, you will understand: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1. How to implement Transfer Learning using EfficientNetV2B2 for image classification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2. Techniques for handling imbalanced datasets in computer vision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3. Data augmentation strategies to improve model robustness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4. Building and training deep learning models using TensorFlow/Keras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5. Model evaluation techniques including confusion matrices and classification reports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6. Deployment of ML models using Gradio for web interfaces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7. End-to-end workflow for computer vision projects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8. Best practices for model optimization and performance monitoring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2"/>
          <p:cNvSpPr/>
          <p:nvPr/>
        </p:nvSpPr>
        <p:spPr>
          <a:xfrm>
            <a:off x="135720" y="1067760"/>
            <a:ext cx="6102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213163"/>
                </a:solidFill>
                <a:uFillTx/>
                <a:latin typeface="Arial"/>
                <a:ea typeface="Arial"/>
              </a:rPr>
              <a:t>T</a:t>
            </a:r>
            <a:r>
              <a:rPr b="1" lang="en-IN" sz="2000" strike="noStrike" u="none">
                <a:solidFill>
                  <a:srgbClr val="213163"/>
                </a:solidFill>
                <a:uFillTx/>
                <a:latin typeface="Arial"/>
                <a:ea typeface="Arial"/>
              </a:rPr>
              <a:t>ools and Technology used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73600" y="1809720"/>
            <a:ext cx="4089960" cy="367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Programming Language: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Python 3.x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Deep Learning Framework: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TensorFlow 2.x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Keras (High-level API)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Pre-trained Model: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EfficientNetV2B2 (ImageNet weights)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Data Processing Libraries: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NumPy - Numerical computations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Pandas - Data manipulation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OpenCV/PIL - Image processing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640120" y="1772280"/>
            <a:ext cx="4335120" cy="367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Visualization Tools: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Matplotlib - Plotting graphs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Seaborn - Statistical visualizations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Machine Learning Libraries: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scikit-learn - Model evaluation metrics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sklearn.utils - Class weight computation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Web Interface: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Gradio - Interactive web application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Development Environment: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Jupyter Notebook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VS Code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2"/>
          <p:cNvSpPr/>
          <p:nvPr/>
        </p:nvSpPr>
        <p:spPr>
          <a:xfrm>
            <a:off x="268200" y="1014480"/>
            <a:ext cx="6102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000" strike="noStrike" u="none">
                <a:solidFill>
                  <a:srgbClr val="213163"/>
                </a:solidFill>
                <a:uFillTx/>
                <a:latin typeface="Arial"/>
                <a:ea typeface="Arial"/>
              </a:rPr>
              <a:t>Methodology</a:t>
            </a:r>
            <a:r>
              <a:rPr b="1" lang="en-US" sz="1800" strike="noStrike" u="none">
                <a:solidFill>
                  <a:srgbClr val="213163"/>
                </a:solidFill>
                <a:uFillTx/>
                <a:latin typeface="Arial"/>
                <a:ea typeface="Arial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 rot="2400">
            <a:off x="413640" y="1390680"/>
            <a:ext cx="7031160" cy="7098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Our approach follows a systematic 8-step process: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1. DATA COLLECTION &amp; PREPROCESSING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- Load image dataset from directory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- Resize images to 124x124 pixels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- Split data: 80% train, 10% validation, 10% test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- Apply caching and prefetching for optimization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2. EXPLORATORY DATA ANALYSIS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- Visualize sample images from each class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- Analyze class distribution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- Identify imbalanced classes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3. DATA AUGMENTATION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- Random horizontal flip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- Random rotation (±10%)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- Random zoom (±10%)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- Random contrast adjustment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4. MODEL ARCHITECTURE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- Transfer Learning with EfficientNetV2B2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- Freeze first 100 layers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- Add custom classification head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- Global Average Pooling + Dropout + Dense layer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633640" y="1245960"/>
            <a:ext cx="5871600" cy="523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5. TRAINING STRATEGY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Class weights for imbalanced data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Early stopping to prevent overfitting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Learning rate reduction on plateau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Adam optimizer with 1e-4 learning rate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6. MODEL EVALUATION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Test set evaluation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Confusion matrix analysis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Classification report (precision, recall, F1-score)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7. MODEL DEPLOYMENT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Save trained model in Keras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Create Gradio web interface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Real-time prediction capability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8. PERFORMANCE MONITORING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Training/validation curves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Visual prediction analysis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2"/>
          <p:cNvSpPr/>
          <p:nvPr/>
        </p:nvSpPr>
        <p:spPr>
          <a:xfrm>
            <a:off x="255240" y="1054440"/>
            <a:ext cx="6102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000" strike="noStrike" u="none">
                <a:solidFill>
                  <a:srgbClr val="213163"/>
                </a:solidFill>
                <a:uFillTx/>
                <a:latin typeface="Arial"/>
                <a:ea typeface="Arial"/>
              </a:rPr>
              <a:t>Problem Statement: 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33080" y="1687320"/>
            <a:ext cx="5043960" cy="470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CHALLENGE: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Manual waste sorting is inefficient, time-consuming, and error-prone, leading to: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Contamination in recycling streams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Increased landfill waste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Environmental pollution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Economic losses in waste management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CURRENT ISSUES: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Human error in waste classification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Inconsistent sorting standards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Labor-intensive process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High operational costs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Limited scalability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301720" y="1449000"/>
            <a:ext cx="6541560" cy="426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NEED FOR AUTOMATION: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Accurate and consistent waste classification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Reduced human intervention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Improved recycling efficiency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Cost-effective solution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Real-time processing capability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TARGET CLASSES: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The system needs to classify waste into multiple categories such as: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Organic waste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Plastic materials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Glass containers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Metal objects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Paper products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Electronic waste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2"/>
          <p:cNvSpPr/>
          <p:nvPr/>
        </p:nvSpPr>
        <p:spPr>
          <a:xfrm>
            <a:off x="255240" y="1054440"/>
            <a:ext cx="6102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000" strike="noStrike" u="none">
                <a:solidFill>
                  <a:srgbClr val="213163"/>
                </a:solidFill>
                <a:uFillTx/>
                <a:latin typeface="Arial"/>
                <a:ea typeface="Arial"/>
              </a:rPr>
              <a:t>Solution: 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65960" y="1508400"/>
            <a:ext cx="6711840" cy="495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PROPOSED APPROACH: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AI-powered Garbage Classification System using Deep Learning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KEY COMPONENTS: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1. TRANSFER LEARNING ARCHITECTURE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Leverage EfficientNetV2B2 pre-trained on ImageNet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Fine-tune for garbage classification task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Achieve high accuracy with limited training data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2. ROBUST DATA PREPROCESSING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Flexible dataset loading with multiple path options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Automated train/validation/test splitting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Optimized data pipeline with caching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3. ADVANCED TRAINING TECHNIQUES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Class weight balancing for imbalanced datasets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Data augmentation to improve generalization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Callback mechanisms for optimal training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6877800" y="1508400"/>
            <a:ext cx="4552200" cy="448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4. COMPREHENSIVE EVALUATION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Multi-metric assessment (accuracy, precision, recall, F1-score)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Visual confusion matrix analysis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Sample prediction visualization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5. USER-FRIENDLY DEPLOYMENT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Gradio web interface for easy access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Real-time image classification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- Confidence score display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2"/>
          <p:cNvSpPr/>
          <p:nvPr/>
        </p:nvSpPr>
        <p:spPr>
          <a:xfrm>
            <a:off x="255240" y="1054440"/>
            <a:ext cx="6102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000" strike="noStrike" u="none">
                <a:solidFill>
                  <a:srgbClr val="213163"/>
                </a:solidFill>
                <a:uFillTx/>
                <a:latin typeface="Arial"/>
                <a:ea typeface="Arial"/>
              </a:rPr>
              <a:t>Screenshot of Output: 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825960" y="3863880"/>
            <a:ext cx="4541400" cy="221364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/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|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2"/>
          <a:stretch/>
        </p:blipFill>
        <p:spPr>
          <a:xfrm>
            <a:off x="496080" y="3675600"/>
            <a:ext cx="5436720" cy="289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" descr=""/>
          <p:cNvPicPr/>
          <p:nvPr/>
        </p:nvPicPr>
        <p:blipFill>
          <a:blip r:embed="rId3"/>
          <a:stretch/>
        </p:blipFill>
        <p:spPr>
          <a:xfrm>
            <a:off x="3559320" y="1104480"/>
            <a:ext cx="7031160" cy="2475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2"/>
          <p:cNvSpPr/>
          <p:nvPr/>
        </p:nvSpPr>
        <p:spPr>
          <a:xfrm>
            <a:off x="149040" y="988200"/>
            <a:ext cx="6102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000" strike="noStrike" u="none">
                <a:solidFill>
                  <a:srgbClr val="213163"/>
                </a:solidFill>
                <a:uFillTx/>
                <a:latin typeface="Arial"/>
                <a:ea typeface="Arial"/>
              </a:rPr>
              <a:t>Conclusion:</a:t>
            </a:r>
            <a:r>
              <a:rPr b="1" lang="en-US" sz="1800" strike="noStrike" u="none">
                <a:solidFill>
                  <a:srgbClr val="213163"/>
                </a:solidFill>
                <a:uFillTx/>
                <a:latin typeface="Arial"/>
                <a:ea typeface="Arial"/>
              </a:rPr>
              <a:t> 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435960" y="1466280"/>
            <a:ext cx="6419520" cy="453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Successfully developed an intelligent garbage classification system that: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✓ 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TECHNICAL ACHIEVEMENTS: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Implemented state-of-the-art EfficientNetV2B2 architecture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Achieved robust performance through transfer learning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Handled imbalanced datasets with class weighting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Created comprehensive evaluation framework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Deployed user-friendly web interface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✓ 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PRACTICAL IMPACT: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Automated waste sorting process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Reduced classification errors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Improved recycling efficiency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Cost-effective solution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Environmental sustainability contribution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✓ 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LEARNING OUTCOMES: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Mastered transfer learning techniques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Gained experience with imbalanced data handling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Learned model deployment strategies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Developed end-to-end ML project skills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5"/>
          <p:cNvSpPr/>
          <p:nvPr/>
        </p:nvSpPr>
        <p:spPr>
          <a:xfrm>
            <a:off x="149040" y="988200"/>
            <a:ext cx="6102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000" strike="noStrike" u="none">
                <a:solidFill>
                  <a:srgbClr val="213163"/>
                </a:solidFill>
                <a:uFillTx/>
                <a:latin typeface="Arial"/>
                <a:ea typeface="Arial"/>
              </a:rPr>
              <a:t>Conclusion:</a:t>
            </a:r>
            <a:r>
              <a:rPr b="1" lang="en-US" sz="1800" strike="noStrike" u="none">
                <a:solidFill>
                  <a:srgbClr val="213163"/>
                </a:solidFill>
                <a:uFillTx/>
                <a:latin typeface="Arial"/>
                <a:ea typeface="Arial"/>
              </a:rPr>
              <a:t> 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49040" y="1382760"/>
            <a:ext cx="11494080" cy="368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UTURE ENHANCEMENTS: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Expand to more waste categories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Implement real-time video processing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Add mobile application interface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Integrate with IoT sensors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Develop batch processing capabilities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APPLICATIONS: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Smart waste management systems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Recycling facilities automation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Educational tools for waste awareness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Industrial waste processing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Municipal waste management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FINAL THOUGHTS: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This project demonstrates the power of AI in solving real-world environmental challenges. The combination of advanced deep learning techniques with practical deployment makes it a valuable contribution to sustainable waste management practices.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513720" y="5426640"/>
            <a:ext cx="11016360" cy="1040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Github Link  :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hlinkClick r:id="rId1"/>
              </a:rPr>
              <a:t>https://github.com/pashaarshad/-Garbage-Classification--AICTE-Shell-Skills4Future-2025--26--Cycle1-/blob/main/Final Project/Main.ipynb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"/>
          <p:cNvSpPr/>
          <p:nvPr/>
        </p:nvSpPr>
        <p:spPr>
          <a:xfrm>
            <a:off x="149040" y="988200"/>
            <a:ext cx="6102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000" strike="noStrike" u="none">
                <a:solidFill>
                  <a:srgbClr val="213163"/>
                </a:solidFill>
                <a:uFillTx/>
                <a:latin typeface="Arial"/>
                <a:ea typeface="Arial"/>
              </a:rPr>
              <a:t>Conclusion:</a:t>
            </a:r>
            <a:r>
              <a:rPr b="1" lang="en-US" sz="1800" strike="noStrike" u="none">
                <a:solidFill>
                  <a:srgbClr val="213163"/>
                </a:solidFill>
                <a:uFillTx/>
                <a:latin typeface="Arial"/>
                <a:ea typeface="Arial"/>
              </a:rPr>
              <a:t> 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435960" y="1466280"/>
            <a:ext cx="6419520" cy="453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Successfully developed an intelligent garbage classification system that: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✓ 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TECHNICAL ACHIEVEMENTS: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Implemented state-of-the-art EfficientNetV2B2 architecture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Achieved robust performance through transfer learning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Handled imbalanced datasets with class weighting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Created comprehensive evaluation framework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Deployed user-friendly web interface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✓ 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PRACTICAL IMPACT: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Automated waste sorting process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Reduced classification errors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Improved recycling efficiency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Cost-effective solution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Environmental sustainability contribution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✓ 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LEARNING OUTCOMES: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Mastered transfer learning techniques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Gained experience with imbalanced data handling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Learned model deployment strategies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- Developed end-to-end ML project skills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45</TotalTime>
  <Application>LibreOffice/24.8.7.2$Linux_X86_64 LibreOffice_project/480$Build-2</Application>
  <AppVersion>15.0000</AppVersion>
  <Words>31</Words>
  <Paragraphs>11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2024-12-31T09:40:01Z</dcterms:created>
  <dc:creator>Mahesh Kurhe</dc:creator>
  <dc:description/>
  <dc:language>en-US</dc:language>
  <cp:lastModifiedBy/>
  <cp:lastPrinted>2025-07-07T21:37:27Z</cp:lastPrinted>
  <dcterms:modified xsi:type="dcterms:W3CDTF">2025-07-07T21:34:33Z</dcterms:modified>
  <cp:revision>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